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03c511d0314eba" /><Relationship Type="http://schemas.openxmlformats.org/officeDocument/2006/relationships/extended-properties" Target="/docProps/app.xml" Id="R0a073cd1bf4041c8" /><Relationship Type="http://schemas.openxmlformats.org/officeDocument/2006/relationships/officeDocument" Target="/ppt/presentation.xml" Id="Rc9700571e0f34d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05ac4a58854fd8"/>
  </p:sldMasterIdLst>
  <p:notesMasterIdLst>
    <p:notesMasterId xmlns:r="http://schemas.openxmlformats.org/officeDocument/2006/relationships" r:id="Rc0b01e69e2304d9a"/>
  </p:notesMasterIdLst>
  <p:sldIdLst>
    <p:sldId xmlns:r="http://schemas.openxmlformats.org/officeDocument/2006/relationships" id="256" r:id="Rc8b5be29542d4fb6"/>
    <p:sldId xmlns:r="http://schemas.openxmlformats.org/officeDocument/2006/relationships" id="257" r:id="Rf3a80510d6f64294"/>
    <p:sldId xmlns:r="http://schemas.openxmlformats.org/officeDocument/2006/relationships" id="258" r:id="Rfdda9e5373bc49dc"/>
    <p:sldId xmlns:r="http://schemas.openxmlformats.org/officeDocument/2006/relationships" id="259" r:id="Rad1318786cb94d27"/>
    <p:sldId xmlns:r="http://schemas.openxmlformats.org/officeDocument/2006/relationships" id="260" r:id="R1849116d97c7451b"/>
    <p:sldId xmlns:r="http://schemas.openxmlformats.org/officeDocument/2006/relationships" id="261" r:id="Rb3d90263744f4811"/>
    <p:sldId xmlns:r="http://schemas.openxmlformats.org/officeDocument/2006/relationships" id="262" r:id="R408926ac2bca48bc"/>
    <p:sldId xmlns:r="http://schemas.openxmlformats.org/officeDocument/2006/relationships" id="263" r:id="Rbd000e7f9a5b401b"/>
    <p:sldId xmlns:r="http://schemas.openxmlformats.org/officeDocument/2006/relationships" id="264" r:id="Ra4a454dc0d72446d"/>
    <p:sldId xmlns:r="http://schemas.openxmlformats.org/officeDocument/2006/relationships" id="265" r:id="Rb5dcd66cac03472e"/>
    <p:sldId xmlns:r="http://schemas.openxmlformats.org/officeDocument/2006/relationships" id="266" r:id="R96ec163a83984a58"/>
    <p:sldId xmlns:r="http://schemas.openxmlformats.org/officeDocument/2006/relationships" id="267" r:id="R36e5385b1d5640c3"/>
    <p:sldId xmlns:r="http://schemas.openxmlformats.org/officeDocument/2006/relationships" id="268" r:id="Rdd844f943ce1447b"/>
    <p:sldId xmlns:r="http://schemas.openxmlformats.org/officeDocument/2006/relationships" id="269" r:id="R3da94d1577d74f87"/>
    <p:sldId xmlns:r="http://schemas.openxmlformats.org/officeDocument/2006/relationships" id="270" r:id="Rfaa95d7a22394f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e6cfb6656346b8" /><Relationship Type="http://schemas.openxmlformats.org/officeDocument/2006/relationships/slideMaster" Target="/ppt/slideMasters/slideMaster1.xml" Id="R2a05ac4a58854fd8" /><Relationship Type="http://schemas.openxmlformats.org/officeDocument/2006/relationships/notesMaster" Target="/ppt/notesMasters/notesMaster1.xml" Id="Rc0b01e69e2304d9a" /><Relationship Type="http://schemas.openxmlformats.org/officeDocument/2006/relationships/presProps" Target="/ppt/presProps.xml" Id="Rebf7d9e9346444d3" /><Relationship Type="http://schemas.openxmlformats.org/officeDocument/2006/relationships/tableStyles" Target="/ppt/tableStyles.xml" Id="R21f8a02d94c648ea" /><Relationship Type="http://schemas.openxmlformats.org/officeDocument/2006/relationships/slide" Target="/ppt/slides/slide1.xml" Id="Rc8b5be29542d4fb6" /><Relationship Type="http://schemas.openxmlformats.org/officeDocument/2006/relationships/slide" Target="/ppt/slides/slide2.xml" Id="Rf3a80510d6f64294" /><Relationship Type="http://schemas.openxmlformats.org/officeDocument/2006/relationships/slide" Target="/ppt/slides/slide3.xml" Id="Rfdda9e5373bc49dc" /><Relationship Type="http://schemas.openxmlformats.org/officeDocument/2006/relationships/slide" Target="/ppt/slides/slide4.xml" Id="Rad1318786cb94d27" /><Relationship Type="http://schemas.openxmlformats.org/officeDocument/2006/relationships/slide" Target="/ppt/slides/slide5.xml" Id="R1849116d97c7451b" /><Relationship Type="http://schemas.openxmlformats.org/officeDocument/2006/relationships/slide" Target="/ppt/slides/slide6.xml" Id="Rb3d90263744f4811" /><Relationship Type="http://schemas.openxmlformats.org/officeDocument/2006/relationships/slide" Target="/ppt/slides/slide7.xml" Id="R408926ac2bca48bc" /><Relationship Type="http://schemas.openxmlformats.org/officeDocument/2006/relationships/slide" Target="/ppt/slides/slide8.xml" Id="Rbd000e7f9a5b401b" /><Relationship Type="http://schemas.openxmlformats.org/officeDocument/2006/relationships/slide" Target="/ppt/slides/slide9.xml" Id="Ra4a454dc0d72446d" /><Relationship Type="http://schemas.openxmlformats.org/officeDocument/2006/relationships/slide" Target="/ppt/slides/slide10.xml" Id="Rb5dcd66cac03472e" /><Relationship Type="http://schemas.openxmlformats.org/officeDocument/2006/relationships/slide" Target="/ppt/slides/slide11.xml" Id="R96ec163a83984a58" /><Relationship Type="http://schemas.openxmlformats.org/officeDocument/2006/relationships/slide" Target="/ppt/slides/slide12.xml" Id="R36e5385b1d5640c3" /><Relationship Type="http://schemas.openxmlformats.org/officeDocument/2006/relationships/slide" Target="/ppt/slides/slide13.xml" Id="Rdd844f943ce1447b" /><Relationship Type="http://schemas.openxmlformats.org/officeDocument/2006/relationships/slide" Target="/ppt/slides/slide14.xml" Id="R3da94d1577d74f87" /><Relationship Type="http://schemas.openxmlformats.org/officeDocument/2006/relationships/slide" Target="/ppt/slides/slide15.xml" Id="Rfaa95d7a2239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7dbaa7644d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ac99d5ca4a45f5" /><Relationship Type="http://schemas.openxmlformats.org/officeDocument/2006/relationships/notesMaster" Target="/ppt/notesMasters/notesMaster1.xml" Id="R5b3a06d8d9f44a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0c6fbac594435b" /><Relationship Type="http://schemas.openxmlformats.org/officeDocument/2006/relationships/notesMaster" Target="/ppt/notesMasters/notesMaster1.xml" Id="Rbb5fe003fdc147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b3089e1d124b62" /><Relationship Type="http://schemas.openxmlformats.org/officeDocument/2006/relationships/notesMaster" Target="/ppt/notesMasters/notesMaster1.xml" Id="R89ef3b351be44e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16a200fd1346af" /><Relationship Type="http://schemas.openxmlformats.org/officeDocument/2006/relationships/notesMaster" Target="/ppt/notesMasters/notesMaster1.xml" Id="Rfc43ff444f584a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d81cb8d98941ee" /><Relationship Type="http://schemas.openxmlformats.org/officeDocument/2006/relationships/notesMaster" Target="/ppt/notesMasters/notesMaster1.xml" Id="R0a0abf91f66347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8ec3b0b5c0421c" /><Relationship Type="http://schemas.openxmlformats.org/officeDocument/2006/relationships/notesMaster" Target="/ppt/notesMasters/notesMaster1.xml" Id="R787741b2fc214b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0501c11c714dbb" /><Relationship Type="http://schemas.openxmlformats.org/officeDocument/2006/relationships/notesMaster" Target="/ppt/notesMasters/notesMaster1.xml" Id="Rf57db0c9a51049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8b5dd4fbbd4523" /><Relationship Type="http://schemas.openxmlformats.org/officeDocument/2006/relationships/notesMaster" Target="/ppt/notesMasters/notesMaster1.xml" Id="R009b2131da2346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fdac4fb13a4251" /><Relationship Type="http://schemas.openxmlformats.org/officeDocument/2006/relationships/notesMaster" Target="/ppt/notesMasters/notesMaster1.xml" Id="R7288b72a024d49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ecb3c407b8438c" /><Relationship Type="http://schemas.openxmlformats.org/officeDocument/2006/relationships/notesMaster" Target="/ppt/notesMasters/notesMaster1.xml" Id="R5be67ba076344e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28117de43a42c3" /><Relationship Type="http://schemas.openxmlformats.org/officeDocument/2006/relationships/notesMaster" Target="/ppt/notesMasters/notesMaster1.xml" Id="R351c435058cd49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375b740a7c47ae" /><Relationship Type="http://schemas.openxmlformats.org/officeDocument/2006/relationships/notesMaster" Target="/ppt/notesMasters/notesMaster1.xml" Id="Rff600398ff9b4e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b1f0011b064e40" /><Relationship Type="http://schemas.openxmlformats.org/officeDocument/2006/relationships/notesMaster" Target="/ppt/notesMasters/notesMaster1.xml" Id="Rad9372615ba24c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669946fe834a0b" /><Relationship Type="http://schemas.openxmlformats.org/officeDocument/2006/relationships/notesMaster" Target="/ppt/notesMasters/notesMaster1.xml" Id="Re846c5fec0bd40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e4087aaa544670" /><Relationship Type="http://schemas.openxmlformats.org/officeDocument/2006/relationships/notesMaster" Target="/ppt/notesMasters/notesMaster1.xml" Id="Ra22a60a965454e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portfolio edition. No municipal, citizen, or production data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78% figure comes from the Greece 2025 Digital Decade country page. Accessed 16 October 2026.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https://digital-strategy.ec.europa.eu/en/factpages/greece-2025-digital-decade-country-report</a:t>
            </a:r>
          </a:p>
          <a:p xmlns:a="http://schemas.openxmlformats.org/drawingml/2006/main">
            <a:r>
              <a:t>- https://digitalstrategy.gov.gr/en/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and limitations are stated explicitly to prevent the illustrative analysis from being presented as an implementation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Weights are explicit design choices. Reviewers can replace the inputs and recalculate the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Scores are design hypotheses on a five-point scale. They are not measured municipal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is an editable native PowerPoint chart. Data comes from analysis/service-prioritization.csv.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pilot tests the full service loop, including staff ownership and closure evidence. It is not limited to the resident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architecture only. Product and hosting choices require workload, national interoperability, procurement and support analysis.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https://eur-lex.europa.eu/eli/reg/2024/903/oj</a:t>
            </a:r>
          </a:p>
          <a:p xmlns:a="http://schemas.openxmlformats.org/drawingml/2006/main">
            <a:r>
              <a:t>- https://commission.europa.eu/news-and-media/news/once-only-technical-system-key-creation-first-european-data-space-2022-07-20_en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European Digital Identity Framework and Interoperable Europe Act inform the direction. Service-specific application requires legal and architectural review.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https://eur-lex.europa.eu/eli/reg/2024/1183/oj</a:t>
            </a:r>
          </a:p>
          <a:p xmlns:a="http://schemas.openxmlformats.org/drawingml/2006/main">
            <a:r>
              <a:t>- https://eur-lex.europa.eu/eli/reg/2024/903/oj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NIS2 scope for local public administration depends on national implementation and service context. The slide does not provide a legal conclusion.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https://eur-lex.europa.eu/eli/reg/2016/679/oj</a:t>
            </a:r>
          </a:p>
          <a:p xmlns:a="http://schemas.openxmlformats.org/drawingml/2006/main">
            <a:r>
              <a:t>- https://eur-lex.europa.eu/eli/dir/2022/2555/oj</a:t>
            </a:r>
          </a:p>
          <a:p xmlns:a="http://schemas.openxmlformats.org/drawingml/2006/main">
            <a:r>
              <a:t>- https://www.enisa.europa.eu/publications/enisa-sectorial-threat-landscape-public-administration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Directive 2016/2102 requires public-sector websites and mobile applications to be perceivable, operable, understandable and robust, subject to scope and national implementation.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https://eur-lex.europa.eu/eli/dir/2016/2102/oj</a:t>
            </a:r>
          </a:p>
          <a:p xmlns:a="http://schemas.openxmlformats.org/drawingml/2006/main">
            <a:r>
              <a:t>- https://eur-lex.europa.eu/legal-content/EN/TXT/HTML/?uri=LEGISSUM:4314916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RACI in governance/operating-model.md expands these accountabilities.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is illustrative. Procurement, legacy integration, national dependencies and staffing can change the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capacity scenario is not a measured saving. It reproduces the explicit assumptions in the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Accessed 16 October 2026. The full bibliography is in references/references.md and the report.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https://digital-strategy.ec.europa.eu/en/factpages/greece-2025-digital-decade-country-report</a:t>
            </a:r>
          </a:p>
          <a:p xmlns:a="http://schemas.openxmlformats.org/drawingml/2006/main">
            <a:r>
              <a:t>- https://digitalstrategy.gov.gr/en/</a:t>
            </a:r>
          </a:p>
          <a:p xmlns:a="http://schemas.openxmlformats.org/drawingml/2006/main">
            <a:r>
              <a:t>- https://eur-lex.europa.eu/eli/reg/2016/679/oj</a:t>
            </a:r>
          </a:p>
          <a:p xmlns:a="http://schemas.openxmlformats.org/drawingml/2006/main">
            <a:r>
              <a:t>- https://eur-lex.europa.eu/eli/dir/2016/2102/oj</a:t>
            </a:r>
          </a:p>
          <a:p xmlns:a="http://schemas.openxmlformats.org/drawingml/2006/main">
            <a:r>
              <a:t>- https://eur-lex.europa.eu/eli/dir/2022/2555/oj</a:t>
            </a:r>
          </a:p>
          <a:p xmlns:a="http://schemas.openxmlformats.org/drawingml/2006/main">
            <a:r>
              <a:t>- https://eur-lex.europa.eu/eli/reg/2024/903/oj</a:t>
            </a:r>
          </a:p>
          <a:p xmlns:a="http://schemas.openxmlformats.org/drawingml/2006/main">
            <a:r>
              <a:t>- https://eur-lex.europa.eu/eli/reg/2024/1183/oj</a:t>
            </a:r>
          </a:p>
          <a:p xmlns:a="http://schemas.openxmlformats.org/drawingml/2006/main">
            <a:r>
              <a:t>- https://www.enisa.europa.eu/publications/enisa-sectorial-threat-landscape-public-administration</a:t>
            </a:r>
          </a:p>
          <a:p xmlns:a="http://schemas.openxmlformats.org/drawingml/2006/main">
            <a:r>
              <a:t>- https://doi.org/10.1787/f64fed2a-en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cf995d61e49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a0cd0c1fe4b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15245305540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0541f066344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d31a867164e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3360bea9a4e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7DF127-AB0F-4504-AAB5-1CDCA6FE6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125A1B-472F-43BA-8315-BA5294280B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570575-409B-4D0D-AF7E-363EB5E93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C6A591-95E0-4D64-951E-B93B2BDA0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C617C5-F183-41A6-A03A-01B1F65C20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3A1C77-3C6D-4E56-9ABD-19F39DF1F7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3A9569-8D2A-4D73-AEA6-CA3ECA819E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2DE9EE-A03B-40FE-9474-326083B35E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42DF32-D999-4B09-B677-5C206255A5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B136BC-781C-4941-AD78-43B2CF2C72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d6d36067584f49" /><Relationship Type="http://schemas.openxmlformats.org/officeDocument/2006/relationships/slideLayout" Target="/ppt/slideLayouts/slideLayout1.xml" Id="Ra9249f9640c5437a" /><Relationship Type="http://schemas.openxmlformats.org/officeDocument/2006/relationships/slideLayout" Target="/ppt/slideLayouts/slideLayout2.xml" Id="R0bb3ce91d2d84dbe" /><Relationship Type="http://schemas.openxmlformats.org/officeDocument/2006/relationships/slideLayout" Target="/ppt/slideLayouts/slideLayout3.xml" Id="Rd119b9fa76874a84" /><Relationship Type="http://schemas.openxmlformats.org/officeDocument/2006/relationships/slideLayout" Target="/ppt/slideLayouts/slideLayout4.xml" Id="R9eac810fc7864fee" /><Relationship Type="http://schemas.openxmlformats.org/officeDocument/2006/relationships/slideLayout" Target="/ppt/slideLayouts/slideLayout5.xml" Id="R229dabcc5ffd4995" /><Relationship Type="http://schemas.openxmlformats.org/officeDocument/2006/relationships/slideLayout" Target="/ppt/slideLayouts/slideLayout6.xml" Id="R7b667d5ca4834d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249f9640c5437a"/>
    <p:sldLayoutId xmlns:r="http://schemas.openxmlformats.org/officeDocument/2006/relationships" id="2147483650" r:id="R0bb3ce91d2d84dbe"/>
    <p:sldLayoutId xmlns:r="http://schemas.openxmlformats.org/officeDocument/2006/relationships" id="2147483651" r:id="Rd119b9fa76874a84"/>
    <p:sldLayoutId xmlns:r="http://schemas.openxmlformats.org/officeDocument/2006/relationships" id="2147483652" r:id="R9eac810fc7864fee"/>
    <p:sldLayoutId xmlns:r="http://schemas.openxmlformats.org/officeDocument/2006/relationships" id="2147483653" r:id="R229dabcc5ffd4995"/>
    <p:sldLayoutId xmlns:r="http://schemas.openxmlformats.org/officeDocument/2006/relationships" id="2147483654" r:id="R7b667d5ca4834d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1aa95939d4282" /><Relationship Type="http://schemas.openxmlformats.org/officeDocument/2006/relationships/notesSlide" Target="/ppt/notesSlides/notesSlide1.xml" Id="R78d9b6b46a8a41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afd4c0a864967" /><Relationship Type="http://schemas.openxmlformats.org/officeDocument/2006/relationships/notesSlide" Target="/ppt/notesSlides/notesSlide2.xml" Id="R4ceb21ee37a0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846ede6594ca6" /><Relationship Type="http://schemas.openxmlformats.org/officeDocument/2006/relationships/notesSlide" Target="/ppt/notesSlides/notesSlide3.xml" Id="Rf60dbf31406043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427e5a69247fc" /><Relationship Type="http://schemas.openxmlformats.org/officeDocument/2006/relationships/notesSlide" Target="/ppt/notesSlides/notesSlide4.xml" Id="Rf8d81a19720b4a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720648f31451a" /><Relationship Type="http://schemas.openxmlformats.org/officeDocument/2006/relationships/notesSlide" Target="/ppt/notesSlides/notesSlide5.xml" Id="Rb1bf2fc89d8240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60381287f4d59" /><Relationship Type="http://schemas.openxmlformats.org/officeDocument/2006/relationships/chart" Target="/ppt/slides/charts/chart1.xml" Id="R5b88a104026d4ed5" /><Relationship Type="http://schemas.openxmlformats.org/officeDocument/2006/relationships/notesSlide" Target="/ppt/notesSlides/notesSlide6.xml" Id="R6de9a61327ad44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937291033461a" /><Relationship Type="http://schemas.openxmlformats.org/officeDocument/2006/relationships/notesSlide" Target="/ppt/notesSlides/notesSlide7.xml" Id="R9dcd029c9c1b41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6a82c79524552" /><Relationship Type="http://schemas.openxmlformats.org/officeDocument/2006/relationships/notesSlide" Target="/ppt/notesSlides/notesSlide8.xml" Id="R0ec55b9c03eb41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464a3782b44fd" /><Relationship Type="http://schemas.openxmlformats.org/officeDocument/2006/relationships/notesSlide" Target="/ppt/notesSlides/notesSlide9.xml" Id="R7a6de7d114b64e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a4598bf054cc4" /><Relationship Type="http://schemas.openxmlformats.org/officeDocument/2006/relationships/notesSlide" Target="/ppt/notesSlides/notesSlide10.xml" Id="Rded0d1c8a0b247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3497129d44d2b" /><Relationship Type="http://schemas.openxmlformats.org/officeDocument/2006/relationships/notesSlide" Target="/ppt/notesSlides/notesSlide11.xml" Id="Rdf0af508d9084a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f52d63326e41e7" /><Relationship Type="http://schemas.openxmlformats.org/officeDocument/2006/relationships/notesSlide" Target="/ppt/notesSlides/notesSlide12.xml" Id="Re19f374e471a45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a1a16e6c446ea" /><Relationship Type="http://schemas.openxmlformats.org/officeDocument/2006/relationships/notesSlide" Target="/ppt/notesSlides/notesSlide13.xml" Id="Rd1b564c5dca347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780c477d24d80" /><Relationship Type="http://schemas.openxmlformats.org/officeDocument/2006/relationships/notesSlide" Target="/ppt/notesSlides/notesSlide14.xml" Id="R827fdaf5d0e349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61b748fdd47e7" /><Relationship Type="http://schemas.openxmlformats.org/officeDocument/2006/relationships/notesSlide" Target="/ppt/notesSlides/notesSlide15.xml" Id="Re76e5c442404419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Weighted score</c:v>
          </c:tx>
          <c:spPr>
            <a:solidFill xmlns:a="http://schemas.openxmlformats.org/drawingml/2006/main">
              <a:srgbClr val="148A8A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Issue reporting</c:v>
                </c:pt>
                <c:pt idx="1">
                  <c:v>Bookings and appointments</c:v>
                </c:pt>
                <c:pt idx="2">
                  <c:v>Certificate issuance</c:v>
                </c:pt>
                <c:pt idx="3">
                  <c:v>Municipal payments</c:v>
                </c:pt>
                <c:pt idx="4">
                  <c:v>Digital participation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4.28</c:v>
                </c:pt>
                <c:pt idx="1">
                  <c:v>4.1</c:v>
                </c:pt>
                <c:pt idx="2">
                  <c:v>3.95</c:v>
                </c:pt>
                <c:pt idx="3">
                  <c:v>3.85</c:v>
                </c:pt>
                <c:pt idx="4">
                  <c:v>3.35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5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12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F1F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C79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7BD29-E2B9-4583-BAD3-3F513D4A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3C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3C8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C8C8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D7E0B-4D96-42E9-BCF3-9D5DDFB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Digital Government Services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a Greek Municipality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E9698-9167-4BD7-A9B8-680E1675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C8D8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D8E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D8E2"/>
                </a:solidFill>
                <a:latin typeface="Arial"/>
                <a:ea typeface="Arial"/>
                <a:cs typeface="Arial"/>
              </a:rPr>
              <a:t>Service prioritisation, target architecture, governance, security, privacy and implementation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616B9-7571-430D-81AC-F22B81A7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8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E92F9-DF59-4778-930E-17E4735A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SPIROS GROUZTIDIS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22951-52C4-4F57-8D39-E9226FAE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C8D8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C8D8E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8D8E2"/>
                </a:solidFill>
                <a:latin typeface="Arial"/>
                <a:ea typeface="Arial"/>
                <a:cs typeface="Arial"/>
              </a:rPr>
              <a:t>Public English edition,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1BC92-5046-47F4-ABA6-F5E7A1F3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5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3C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3C8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3C8C8"/>
                </a:solidFill>
                <a:latin typeface="Arial"/>
                <a:ea typeface="Arial"/>
                <a:cs typeface="Arial"/>
              </a:rPr>
              <a:t>Five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0E79C-1664-4DED-8828-9C49B011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operating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516A9-0C72-4B6C-97FC-688970FA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66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before scale</a:t>
            </a:r>
          </a:p>
        </p:txBody>
      </p:sp>
    </p:spTree>
    <p:extLst>
      <p:ext uri="{BB962C8B-B14F-4D97-AF65-F5344CB8AC3E}">
        <p14:creationId xmlns:p14="http://schemas.microsoft.com/office/powerpoint/2010/main" val="1148730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B57394-9D67-4E3B-BB06-0D80B8C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6E17E-B1B6-49A6-9C8E-E494F0CB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Greek digital public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73901-EE3B-470C-918D-81B51144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6CB12-7210-4F57-86F6-10655211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56D1D-F418-4272-9B14-AB599BCE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84F48-1FBD-4F84-8F17-27BE637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113FC-2C52-43B1-9668-F08F0554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2025 RESIDENT PERSPECTIVE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AF770-6EFA-42D8-9B5A-8AC336B1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61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61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78%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28727-23CB-4503-B244-C981C56E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743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of Greek respondents said digitalisation of public and private services makes their lives easier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013BE-D697-44E9-91B2-9EF2573E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F4A8A-82E2-41D3-AD8F-619FE73B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764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88B9D-6B66-43B1-AF8D-DF022DF8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288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8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7F1D6-9F9E-451A-ABCF-686A729E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National 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1EB0B-1471-4B63-A7E8-B6E3AEB1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Greece continues to expand digital public services and identity infrastructure.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05CE1-E968-4F07-A0EF-B8459DF5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E4097-767B-48F3-85F7-3A24736B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07A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04D9B-F31E-4F9B-8E1F-F30B9B19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289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Coverage gaps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0A69E-35BF-47D6-99F3-F91700FB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The 2025 report still identifies services that are not fully available online.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136D0-79DE-4EC3-B5B9-036A2997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9EB16-30F8-4005-BA0E-D3EBFB18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862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A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692434-207F-4661-B93F-DD53B6F3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576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Local constraint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20681-DFF8-4631-8828-79EFB09C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Municipal delivery depends on legacy systems, staffing, procurement and sustainable ownership.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41BB6-3479-4041-9A35-215E522D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477A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477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7A5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689B5-52A3-47AD-B234-C99DB73C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149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77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725C47-2E35-4C2A-AC02-D919EB27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863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Inclusion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36993-9015-4CE2-B823-047B7B85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skills and assisted access remain material service-design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20865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34AE7-4B15-4C87-B0C1-E9F01086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3AED0-261B-4E9D-8C59-41EC73CB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Case definition and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A38D3-3EF9-4825-A589-1F431C12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441E8-7385-4223-9695-5FBA5248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E13F7-E102-44B2-B067-9D804E5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06AE4-F490-4BE1-B52B-3ACD070C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62DD4-7994-4779-AD9F-0888467E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Subject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EB2FF-9BE7-4FB0-814C-2F0F712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49"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 hypothetical medium-sized Greek municipality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A3880-4E61-415C-96CD-F961529B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4385A-1B92-49DB-A5D6-1B5066AA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Which services should launch first, and what shared controls must exist before scale?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0ECCA-B907-426D-A401-9D76F663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54802-D45D-40A9-BE23-B5262287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Literature, official policy and law, scenarios and explicit design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F5DBA-F7D1-490D-BA0B-FA81E943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43050"/>
            <a:ext cx="0" cy="426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13093-BD0C-48C7-AAD6-97E291EF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00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F0455-27F7-4734-9843-62E3CAAF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00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No primary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4AA29-2B9F-4AD8-89C7-9EE904D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431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No resident survey, staff interview or live-service telemetry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339CB-8B07-4211-9C43-E7D16DD2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22065-7B31-45A0-8733-DC33CBC7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28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No vendor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72935-3D07-4A8A-9AFD-4D76C425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The architecture describes capabilities and boundaries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0DDA9-3613-4751-8F21-ECF6032D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57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F5C3C-BB7C-4BE1-A961-84711E7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57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No measured benefits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E2540-4E08-4BA9-86B3-7B69823D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Scores and capacity figures remain hypotheses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C0052-2521-4589-90CA-C222602E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86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DF178-1B3F-4D0F-A378-7C8CB009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86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No legal opinion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DE34A-0941-46B4-B9D7-D29A33E2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292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Greek implementation and service-specific scope require review</a:t>
            </a:r>
          </a:p>
        </p:txBody>
      </p:sp>
    </p:spTree>
    <p:extLst>
      <p:ext uri="{BB962C8B-B14F-4D97-AF65-F5344CB8AC3E}">
        <p14:creationId xmlns:p14="http://schemas.microsoft.com/office/powerpoint/2010/main" val="1329541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28DE0-2727-46EA-8BBE-11A9FC70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BA0B6-DDF0-4EA0-A523-188D402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Prioritisation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3B25B-275B-4C4B-9D7D-D29A70F9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0CF7B-3974-488C-B6ED-D93CB8AE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95376-8CAF-40EA-AE1B-F23D44C4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05992-66D2-4FED-97A0-9F3A8083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1BF7B-2265-491F-9F63-E4761B34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EAF4B-27FF-41D9-8399-685D11E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288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E7748-00EB-4C9D-97CD-D9BBADA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04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Citizen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282CA-9A5D-4411-B95D-41C8034D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669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Resident effort, delay and 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14D12-0C89-4986-8FDC-842D8BBF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123D5-6010-47A7-9C63-B89ED26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9557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8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EA0E9-5EF5-45B3-A900-4BCE33A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717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Operational benefit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B9683-79BD-48FC-B0A9-A59AEAB9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336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Repetitive work, error and queue pressure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01218-6AB2-4E71-8D12-3B2F703F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32B54-CF1A-4972-8181-902C60F1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623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A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466D6-00E6-46BD-BF7E-9C69ED93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38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BD2C3-CC89-41C0-9D11-C343AB34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00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Technology maturity and dependencies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2369F-5F77-43C1-989A-D054DB28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C3C60-8A16-4F49-B903-2850B2C6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291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A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78D4E-BF1A-4BA7-B346-263A0A71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05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Delivery simplicity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86983-29F0-4BA9-B7F7-A29576E0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672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Integration, procurement, rollout and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64BD0-E5F5-4D75-927D-71C760D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468AB-DCF3-4DCD-B3A7-869D5C8E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95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A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2E71B7-4EE9-443E-84BA-4F2AA162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72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Compliance simplicity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31D3D4-0D0A-4020-A982-F0FE1AB4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34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Privacy, legal and audit complexity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83649-264D-499A-99A6-C13186E6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EED66-7231-417B-A932-D9620C2E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28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080269-7E54-40C6-9CAB-E0241911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7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1 to 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6BEF22-BF80-45E2-83EC-C5E60CAE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Higher is better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7B325E-C60F-4C2C-8C34-D6C9E0BD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Delivery simplicity uses a high score for lower implementation effort.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D34574-D489-4825-8CB0-543D4B3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ranking is reproducible from the CSV file and standard-library Python script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737193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065A2-717C-4C7D-8C0A-E40D0BBB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D8B0C-39A8-484E-AF3C-363B91C4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portfolio and delivery waves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456B2-7FE4-46B0-82DC-3118BEFE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D1AE6-27C8-42DA-ADC1-E13A62A5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F57F3-0CAB-40A4-B738-A7ACD546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19C80-8591-4846-90D6-04196633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AA121-8623-4752-9BD6-FDFEB4ED2E86}"/>
              </a:ext>
            </a:extLst>
          </p:cNvPr>
          <p:cNvGraphicFramePr/>
          <p:nvPr/>
        </p:nvGraphicFramePr>
        <p:xfrm>
          <a:off xmlns:a="http://schemas.openxmlformats.org/drawingml/2006/main" x="571500" y="14668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0100"/>
                <a:gridCol w="3543300"/>
                <a:gridCol w="1047750"/>
                <a:gridCol w="1371600"/>
                <a:gridCol w="4286250"/>
              </a:tblGrid>
              <a:tr h="4572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 service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Wave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dependency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Infrastructure issue reporting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4.28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Pilot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Workflow ownership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Facility booking and appointments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Pilot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Calendar and resource ownership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Digital certificate issuance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3.95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Integrate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Trusted identity, registry and signing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Municipal debt payments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3.85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Integrate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ERP, payment provider and reconciliation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Digital participation platform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3.35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Expand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Moderation and policy ownership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204A2-BFC4-4BD7-AA22-BEAB4083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10490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EF544-BA17-4DA9-8A02-EE1188D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042"/>
          </a:bodyPr>
          <a:lstStyle xmlns:a="http://schemas.openxmlformats.org/drawingml/2006/main">
            <a:defPPr algn="ctr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Pilot services test workflow, content, accessibility and ownership before identity, records and payments raise the control burden.</a:t>
            </a:r>
          </a:p>
        </p:txBody>
      </p:sp>
    </p:spTree>
    <p:extLst>
      <p:ext uri="{BB962C8B-B14F-4D97-AF65-F5344CB8AC3E}">
        <p14:creationId xmlns:p14="http://schemas.microsoft.com/office/powerpoint/2010/main" val="1724227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D487F-181C-4D75-AEF2-51B8DD7E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F869F-7AED-4784-80C7-06B2C586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Weighted service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8998D-4869-4936-B032-F081818B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3CB71-A3A7-48D1-A52A-19AC4C67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71ADF-02A7-4DE1-8339-C0F5AF73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F7926-16F8-4F98-8F84-30D736DF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217737B-8C78-462B-B90A-8904223CD8D6}"/>
              </a:ext>
            </a:extLst>
          </p:cNvPr>
          <p:cNvGraphicFramePr/>
          <p:nvPr/>
        </p:nvGraphicFramePr>
        <p:xfrm>
          <a:off xmlns:a="http://schemas.openxmlformats.org/drawingml/2006/main" x="666750" y="15430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88a104026d4ed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0B9E2-94BF-4D86-86A0-1E36DE7D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26914-6E46-4CC7-A410-36969FC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2ABED-29E1-4D0E-8302-3FC94C87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4.28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18F92-F76E-4B72-A024-EA9D1152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Highest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41946-C1FE-4F20-A3AF-4BB39C5A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Issue reporting combines visible resident value with manageable integration and compliance dependencies.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D0052-F163-4AD3-ACBE-570E0856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387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The score supports sequencing. Discovery can still change the order.</a:t>
            </a:r>
          </a:p>
        </p:txBody>
      </p:sp>
    </p:spTree>
    <p:extLst>
      <p:ext uri="{BB962C8B-B14F-4D97-AF65-F5344CB8AC3E}">
        <p14:creationId xmlns:p14="http://schemas.microsoft.com/office/powerpoint/2010/main" val="16855529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7B527-D95A-45B8-A0D1-EC2B11E9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SERVICE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1A858-249A-46AB-A2B8-7B2918E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Infrastructure issue reporting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22922-1378-4074-B4E5-DFBC5A9E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259A2-1352-4FC5-93D3-999E99C7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7B12C-F669-456E-87B0-AF158B7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36CC0-CB41-4D35-9640-57A60083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CB405-D1FE-48A8-BAF7-3338EBCF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Resident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D7846-220E-4E5A-A0EB-BF9B28D3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Describe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0017D-576D-4025-B278-E9C7AD77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8120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Add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54C50-5624-4357-8A53-0571547A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8120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Receive case number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AC48E-C7AE-4C9D-ACF6-9EDED027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Track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44462-84EB-4E89-B3FD-AC6FD2BC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8120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Confirm outcome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290A3-0259-4E07-9BCB-0D46FF20CF4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62200" y="2324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8A8A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60676-DDD4-47ED-888B-D006FD0B497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91050" y="2324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8A8A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AB4C3-1CB9-4AEF-BC06-2A50669B3E9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19900" y="2324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8A8A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C2D5D-9EF3-4018-A44C-81DB6122118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48750" y="2324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8A8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80E44-0F22-4699-9745-DC6A9EFE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Municipal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DF75B-FBDB-42D5-929F-B9513DEE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5DDFD-FC0F-466E-AE4D-631B942C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5285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Assign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D5DFC-2E0A-4DE5-8AE4-37E76787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5285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Perform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E0E37-7492-45A3-9910-D1594A50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Record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B1266-B1F5-4FF0-86E0-3D8EC39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5285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Close or reopen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5DA89-7E6C-480D-A657-4B5158466475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362200" y="4095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A5E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FDA2C-032C-4C43-8E44-95B3923E2E38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591050" y="4095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A5E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729F4-AA22-4325-B1E5-3AB17E3BB63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819900" y="4095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A5E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3D1B0-FB7D-4DDD-9978-00A49BA0B1CF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048750" y="4095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A5E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26912-2402-4DFC-86E9-72614F6F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1029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7B464-B710-4C86-87F1-6184948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Pilot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63648D-6E68-473C-AFD4-720C47E9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97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Completion rate, status accuracy, accessibility findings, support demand, time to assignment and closure quality</a:t>
            </a:r>
          </a:p>
        </p:txBody>
      </p:sp>
    </p:spTree>
    <p:extLst>
      <p:ext uri="{BB962C8B-B14F-4D97-AF65-F5344CB8AC3E}">
        <p14:creationId xmlns:p14="http://schemas.microsoft.com/office/powerpoint/2010/main" val="17200040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17830-3D51-4FA9-B378-4BC45277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BB8A0-2549-4379-BE2D-537E5395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Target service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D7AEB-364C-465D-B51F-EF25433B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C819F-C70F-4C09-A680-AF87FA74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67EC0-AC03-4DBD-A0A4-ADBB99C7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22A7F-4D14-41DE-BC74-3475BA5F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4FE78-17DE-44A8-B385-50C42E9B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019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Web, mobile and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assisted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75513-F18A-4446-A2BB-42CCF418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62100"/>
            <a:ext cx="2019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API gateway and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identity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3985B-F215-4056-89B4-E823DD45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62100"/>
            <a:ext cx="2019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Five domain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15389-0843-470B-A69B-144AE37B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62100"/>
            <a:ext cx="2019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7A3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Integration and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workflow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6D1B6-8883-459C-B79A-ED73CE3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1581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E07A3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Municipal and trusted</a:t>
            </a:r>
          </a:p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external systems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DED22-56A4-456D-B46E-6CC24139905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71750" y="19716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8A8A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60EEA-83AB-4FCF-8DA0-6080D57335B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86350" y="1971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A5E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B412B-35EE-4804-BAC5-2156F81433C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20000" y="1971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A5E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1D510-3720-45CB-9397-FFA9DC989C1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144000" y="2381250"/>
            <a:ext cx="1685925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07A35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B4E3F-66DD-4121-9FF8-D3F9E130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31813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Operational data, documents and audit records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3F682-BF42-4FED-A5A5-F52AFA47D71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610350" y="2381250"/>
            <a:ext cx="58102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D6D3F-1339-4B46-B022-C9A00FAA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38700"/>
            <a:ext cx="31813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Monitoring, SIEM, backup and recovery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73FB3-16CA-4F93-9D87-1278CD914BDF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191375" y="40767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F05A6-C15A-4FA3-901E-2C808BB8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432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EXTERNAL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8B20F-91CC-4A6B-897B-F39A6B36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0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A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2D244-15C1-41EA-9D3F-AB2549EE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Shared controls prevent each service from creating a separate identity, logging and recovery model.</a:t>
            </a:r>
          </a:p>
        </p:txBody>
      </p:sp>
    </p:spTree>
    <p:extLst>
      <p:ext uri="{BB962C8B-B14F-4D97-AF65-F5344CB8AC3E}">
        <p14:creationId xmlns:p14="http://schemas.microsoft.com/office/powerpoint/2010/main" val="491335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8A18C9-68F5-4396-BC9E-2719DE0C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AE2D6-6F01-417D-B0DA-84DBC48E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Integration and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FA6F7-4AA8-4528-9B35-CA0F26B8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8D7AB-7EC5-45F0-985C-EB7E1AF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4B92F-CD7F-4B16-86CE-F863CCB1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320DC-971F-4384-9490-9F439D8D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754D8-4F33-40E2-88FB-83DEFFFD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Trusted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C239-9EB1-4D15-B7FA-39DCB71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Resident authentication and verified attributes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D169D-7C83-47CE-9F14-2E522ECF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288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8A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B1F75-56C2-4BAD-A40C-6ECE9C35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Municipal ERP and registries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E9518-DC83-4C68-A440-D1666B63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Authoritative obligations, records and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FAE39-84B9-4B08-B760-1E1AD4E2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765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8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0A0F1-11DE-4733-8D0E-2EB335A3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Payment provider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965B0-6274-4C6E-93B2-C6E2D329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Hosted payment and transaction confirmation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B25BB-4DC1-419D-B0C6-F0C06AFE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07A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26247-7ADF-4A49-B2F3-F0A2EFC7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Government interoperability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F5695-B0DE-4DB4-A21E-0A748F08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Evidence exchange through governed interfaces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4DB1A-16F1-4331-9687-BA966DF1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720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8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B2B3F-0CCA-4868-87C2-FB87DB98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47800"/>
            <a:ext cx="53149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26BAC-24FB-40CD-9530-BCFF3F2A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Evidence required at every interface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50BE2-FD46-4D5C-B20D-5507F435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E3738-2773-439D-B10E-63A5763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Named data authority and service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D439E-A7E9-4476-98F5-56123D5F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289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F6F9F-8834-49AB-BA72-66120173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9875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Versioned contract and failure behaviour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85B26-C61F-468A-ABE1-4087CABE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3BCA6-79B2-41CA-B0C3-E30C2B04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956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Authentication, authorisation and logging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B7110-E9E4-4D80-A3C8-D7D00BD3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004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FF6E7-4E8A-4FAA-9A37-6B930FCB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81425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Reconciliation and retry handling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24628-6287-4C8D-8B83-F5F60A2C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86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9C89D2-C232-4F76-ADBB-6ECA450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Support and incident 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353BC7-4819-4CD9-8AA8-B7B5173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720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E1947F-9E5A-4F3F-AA18-F1FAD068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52975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Export, retention and supplier exit</a:t>
            </a:r>
          </a:p>
        </p:txBody>
      </p:sp>
    </p:spTree>
    <p:extLst>
      <p:ext uri="{BB962C8B-B14F-4D97-AF65-F5344CB8AC3E}">
        <p14:creationId xmlns:p14="http://schemas.microsoft.com/office/powerpoint/2010/main" val="1145483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82BA1-70E7-44C5-AFFE-443892DC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5B51E-88A9-44AE-9BF9-024A8775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Security, privacy and resilience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27C82-7EC3-4921-AC73-FEF6DF83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D4475-839F-491C-8339-81B9F9F8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E4386-AF2A-4AAA-A56A-8675EE1B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347D0-AE81-48B1-BECF-773FB2F9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C99F6-C79B-4695-9858-BD5E8C8B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8A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2A1AD-798C-4EB1-8B39-AABFDD9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85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Identity and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F1EA8-3471-4CF1-B043-15897A8C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MFA for staff, least privilege, protected recovery and access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C42CA-84A5-4486-86CC-31BEACB5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3A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36703-F975-484E-A112-D4EF893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 protection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B902F-0C03-4E18-B0E9-2E1A7D7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Purpose, minimisation, lawful basis, retention, deletion and DPIA where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AB7DD-6830-41E8-AB10-7350A676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07A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2D5EF-66B6-4C8A-BCF1-A6652D06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14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Application 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C1884-AC04-45BF-9204-BEA643A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5755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Validated input, secure development, dependency control and independent 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7CF46-E9B2-44F2-B867-7E0679BF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449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3DBCB-E5A5-4352-9248-D059DFD7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29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Detection and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3E29E-6EA1-48AD-85EA-61539E4E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Protected logs, monitoring, incident roles and regulatory notification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4FB1B-D00F-4D04-B36C-EB6A8DFD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77A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55CF3-3685-4B5F-ABDF-F6166056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BB62E-7893-4D37-9194-530B3195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Tested backups, recovery objectives, supplier escalation and exercise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2DF92-7453-4072-A064-4FAD90E3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687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8C3F9-CBD6-4DEC-B612-881530A3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1030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Control statements become useful only when an owner can show testable evidence.</a:t>
            </a:r>
          </a:p>
        </p:txBody>
      </p:sp>
    </p:spTree>
    <p:extLst>
      <p:ext uri="{BB962C8B-B14F-4D97-AF65-F5344CB8AC3E}">
        <p14:creationId xmlns:p14="http://schemas.microsoft.com/office/powerpoint/2010/main" val="922043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D17BF-3F86-4F7A-B031-5C76F6FA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INCLUSION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9F05A-ECBE-4D64-8443-94F740D4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Accessibility and assisted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E8A94-7D37-4338-8D35-AC86E4F0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BF1AE-FDF2-4943-BBBF-F8F9EA11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495A3-1AED-4CD3-A63B-4AD6BC78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77BCE-539A-4CA4-8F57-8CC9129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DC459-119B-40C5-9B45-F20E6162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85"/>
          </a:bodyPr>
          <a:lstStyle xmlns:a="http://schemas.openxmlformats.org/drawingml/2006/main">
            <a:defPPr algn="ctr">
              <a:defRPr sz="18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Public services must remain usable when a resident cannot complete the digital path independently.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A9CCA-53CC-477E-9D8A-581B05D0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Perceivable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4D81F-58CF-4861-B495-019FF584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F11EE-9F1F-4F0D-8E1A-31F12829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Meaningful structure, alternatives and readable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FCD31-0535-4919-9933-9C93C346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Operable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41CED-7295-4EB1-AE82-95AD6F0C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903A9-9733-4BB9-B292-9B311CB9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Keyboard completion, visible focus and workable 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56723-F3D9-4E4A-9BDA-772100AD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Understandable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C4870-88AF-42CF-B75E-7BF1C60F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247C8-BC46-4B18-BB05-7E44E5EC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Plain instructions, clear errors and predictable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6A17A-F39D-4AF0-BE47-E1F1BDDC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Robust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81A05-D998-49E5-B0EB-1F8EFE36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91C7A-82B8-4074-8884-CB84BCFC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Compatibility with assistive technology and tested documents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4EA21-EC93-4F9B-9619-82818067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F447E-8E8D-4B03-94C7-877B6EF4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Assisted channel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B07D3-511C-4E45-A674-ED099865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006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Staff can complete the same outcome through a documented route without penalising the resident.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60480-30DD-4C66-A7EE-72B2FBD6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Acceptance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F4081-3DF4-4674-AD2C-8D19766A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864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Audit, user testing, published statement, feedback route and funded remediation ownership</a:t>
            </a:r>
          </a:p>
        </p:txBody>
      </p:sp>
    </p:spTree>
    <p:extLst>
      <p:ext uri="{BB962C8B-B14F-4D97-AF65-F5344CB8AC3E}">
        <p14:creationId xmlns:p14="http://schemas.microsoft.com/office/powerpoint/2010/main" val="302358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AF679-3313-480F-AF99-3A2A494E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A0F5C-9ACB-4DBB-9D43-8F379A5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73A12-67C1-41E5-8B4A-8573AB72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E6666-3A97-4F09-ACEF-2BF94A2F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1D8CE-9C1E-466C-9E98-DE3462E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45F58-122E-4D77-A85B-21F220A7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2F0C8-E0AC-4D1E-BF21-5C3F7ECA1532}"/>
              </a:ext>
            </a:extLst>
          </p:cNvPr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667250"/>
                <a:gridCol w="4248150"/>
              </a:tblGrid>
              <a:tr h="4572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Accountability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Service owner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Outcome, policy, funding and release acceptance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Service standard and benefit review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Product lead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Discovery, backlog, user evidence and delivery coordination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Prioritised backlog and research 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IT and architecture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Integration, reliability, support and technical ownership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Architecture decisions and operational runbook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Security and DPO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Risk, privacy, incident and control assurance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Threat model, privacy records and test 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Accessibility lead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Acceptance, monitoring and remediation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Audit, testing and accessibility statement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Supplier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Build, documentation, support and contractual 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Working service, documentation and exit support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6843F-C1D0-446F-90A2-69EABB9F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43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Project governance ends at delivery. Service governance continues through operation.</a:t>
            </a:r>
          </a:p>
        </p:txBody>
      </p:sp>
    </p:spTree>
    <p:extLst>
      <p:ext uri="{BB962C8B-B14F-4D97-AF65-F5344CB8AC3E}">
        <p14:creationId xmlns:p14="http://schemas.microsoft.com/office/powerpoint/2010/main" val="12676484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D25360-B138-411D-ACF8-761F93AC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87881-B24F-48FE-8DBE-1147819E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Four-phase implementation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6D5CA-47A7-4173-A980-A98B59E8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DBF9F-D3FE-4130-9B2E-0FCBC3C5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9BD11-74EA-41CA-943D-6358B9EF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65C8A-19D1-4534-9370-162047F2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6421D-FDF9-4528-93D8-E93F0E18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C5B12-EB37-4E08-A0F0-3CB16A68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43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A36AD-2B2C-4CA0-B705-7E1D0907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57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88E85-1839-49B4-A553-709B7C02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AEE3F-3F14-49CB-BB9F-E67C2D21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Months 0–2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B22D0-7B7F-498C-B994-A1B1556D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Owners, baselines, architecture and control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44339-437A-4638-8423-C4BD64FF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43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8A"/>
          </a:solidFill>
          <a:ln xmlns:a="http://schemas.openxmlformats.org/drawingml/2006/main" w="0">
            <a:solidFill>
              <a:srgbClr val="14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B4DD0-79D7-4427-9B40-BEE51F91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FE755-C1A9-4B1D-BAB7-04C97E99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57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6D5E1-39EF-4701-B7FC-6376BDC7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Months 3–5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8B534-433E-4FFC-BEB3-E9CA996A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576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Issue reporting and booking for a limited audience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7DB37-5F63-454E-8896-714C71BD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43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35"/>
          </a:solidFill>
          <a:ln xmlns:a="http://schemas.openxmlformats.org/drawingml/2006/main" w="0">
            <a:solidFill>
              <a:srgbClr val="E07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74E4B-3390-42CC-AC7A-0F5922F8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C049E-E2C6-44EB-9284-E708B69A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Integrate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855C2-02B4-4416-8B89-605F17B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Months 6–10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7BE9A-CB78-48A2-B4AE-788E9352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Certificates and payments connected to trusted systems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092A0-B00E-4194-8FB9-88A0F74F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A55"/>
          </a:solidFill>
          <a:ln xmlns:a="http://schemas.openxmlformats.org/drawingml/2006/main" w="0">
            <a:solidFill>
              <a:srgbClr val="477A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52BC5-BA7C-49C7-AA6C-151EF5F6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43806-BE6A-41B2-B0EE-69781EE5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Expand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AC587-3968-474F-BDF5-9137E9AF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477A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477A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7A55"/>
                </a:solidFill>
                <a:latin typeface="Arial"/>
                <a:ea typeface="Arial"/>
                <a:cs typeface="Arial"/>
              </a:rPr>
              <a:t>Months 11–14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43C9C-6822-424C-98C3-30411727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576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Participation and portfolio improvement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3736A-AB3F-495F-BB41-7F054113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572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FE2503-FA54-4549-8910-AEFF19AB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1003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Each phase ends with evidence for user need, accessibility, operations, recovery, control effectiveness and funded ownership.</a:t>
            </a:r>
          </a:p>
        </p:txBody>
      </p:sp>
    </p:spTree>
    <p:extLst>
      <p:ext uri="{BB962C8B-B14F-4D97-AF65-F5344CB8AC3E}">
        <p14:creationId xmlns:p14="http://schemas.microsoft.com/office/powerpoint/2010/main" val="5110654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D6C7C-F830-4E1D-BD90-1B224DA1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F0B6B-17EE-43F2-81C6-14378A84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Benefits, metrics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6E1E7-09A0-4C91-9141-E0C7F10D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EB6B3-190B-4ABE-A370-30E80D37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C4DFC-0233-4CA3-925D-70B26E8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B94A8-E0F7-4327-8DA2-777C1274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736A5-0440-4A93-96C3-67B7A4AE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6DCDE-F06B-435D-BBD0-E8DC39A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4478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Completion rate by channel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BD00E-12C3-4739-829A-3490B287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2F570-4616-4892-B204-04861D82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9FBDF-6A99-4B0A-B06F-0208B2B2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478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End-to-end completion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00A86-B517-4E46-A669-C1274A80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1455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A7F4E-48DF-423E-84BA-824B1C86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52437-2755-4EBF-96E6-AD380631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574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Rework and rejected requests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21985-7C86-44A1-89D8-B4B4F61E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68016-B04E-486A-94EB-5404F783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Inclusion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4FA37-D45E-4EEB-9DC6-0EE7C4E3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Accessibility defects and assisted demand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3A5F7-B9F1-4695-9BAC-D64AE126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242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2F71C-D1D6-4C56-BC55-20A4759B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7236E-E105-4E4C-B2A8-C8C7BEDE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671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Failures, availability and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CBABE-AED0-4AD9-A059-679D5668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2FB35-F476-491D-A9A0-31C71C3C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8E5E7-B864-44BA-BD62-D8469B1A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Handling time and avoidable contact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7561B-581B-475E-8A0C-EB432630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3385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B19BF-4625-4592-A625-86BAAB1E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610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67E41F-368E-4895-842B-E1324D7E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Illustrative capacity scenario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DA8301-72D4-4D77-8EE9-C69D080B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2,000 monthly requests, 50% digitised, 10 minutes saved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7155A-56C1-40CC-ABD0-B255B921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673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12"/>
          </a:bodyPr>
          <a:lstStyle xmlns:a="http://schemas.openxmlformats.org/drawingml/2006/main">
            <a:defPPr algn="ctr">
              <a:defRPr sz="22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≈ 167 staff hours per month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BC9E4-1AEA-4F17-B9F0-5170E838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Arithmetic illustration only. Real benefits depend on demand, exceptions, channel shift and operating cost.</a:t>
            </a:r>
          </a:p>
        </p:txBody>
      </p:sp>
    </p:spTree>
    <p:extLst>
      <p:ext uri="{BB962C8B-B14F-4D97-AF65-F5344CB8AC3E}">
        <p14:creationId xmlns:p14="http://schemas.microsoft.com/office/powerpoint/2010/main" val="20770973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6B416-6A13-4794-BA6B-728743AD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F57B7-81E5-4BE7-9D58-09A83643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References and responsible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A75C6-0B94-4EA3-86FF-60EB434B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E3B66-9B07-43FC-A28F-343C8997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09486-EADC-4BC6-B0B5-E3AD7D7A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GOVERNMENT SERVICES FOR A GREEK MUNICIPALITY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B1F6D-AF9B-46D0-AB3C-CCCCAA38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F73AF-F857-4B48-B1C5-6AEBC077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Greece 2025 Digital Decade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6F740-4F25-4A01-9F7D-4D3D74E7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digital-strategy.ec.europa.eu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9D6DD-6F16-41FC-91A4-9C76B766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Digital Transformation Bible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04722-DF55-4002-BB44-9A934EDE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digitalstrategy.gov.gr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92CC9-025C-4B88-9BD5-1CE11E1B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GDPR and NIS2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BDE10-C508-4662-88D1-0BE2CEAF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eur-lex.europa.eu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6C0AB-DB4E-444B-B3FB-86059CD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Public-sector accessibility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D70ED-BAA1-4FEE-8387-C14ED698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eur-lex.europa.eu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0A726-75F6-4311-9786-8E7F0431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Interoperable Europe 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04033-374B-4002-901B-CDFE053B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eur-lex.europa.eu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D2B96-BBF1-454F-8599-883625E0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European Digital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44C9A-9B0B-41EB-8F4D-6E30B9BD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eur-lex.europa.eu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0BB76-12CD-40DB-BF2B-7ECD60F2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Public Administration Threat Landscape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3BBFF-8C8B-4CBA-86F7-1B011133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enisa.europa.eu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50D5A-34B0-4127-916B-79AE57CB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OECD Digital Government Framework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48113-93EE-42E1-A9B9-84C39C16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oecd.org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51642-1C0F-4E6A-A283-A98BC6A8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CAAA8-11A0-44F2-BB60-0935C05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E07A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07A35"/>
                </a:solidFill>
                <a:latin typeface="Arial"/>
                <a:ea typeface="Arial"/>
                <a:cs typeface="Arial"/>
              </a:rPr>
              <a:t>Educational portfolio artifact, hypothetical municipality, no production data, not legal or procurement advice</a:t>
            </a:r>
          </a:p>
        </p:txBody>
      </p:sp>
    </p:spTree>
    <p:extLst>
      <p:ext uri="{BB962C8B-B14F-4D97-AF65-F5344CB8AC3E}">
        <p14:creationId xmlns:p14="http://schemas.microsoft.com/office/powerpoint/2010/main" val="1941090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2026-10-16T08:34:58.7090000Z</dcterms:created>
  <dcterms:modified xsi:type="dcterms:W3CDTF">2026-10-16T08:34:58.7090000Z</dcterms:modified>
</coreProperties>
</file>